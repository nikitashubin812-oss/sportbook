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9"/>
  </p:notesMasterIdLst>
  <p:sldIdLst>
    <p:sldId id="256" r:id="rId2"/>
    <p:sldId id="258" r:id="rId3"/>
    <p:sldId id="259" r:id="rId4"/>
    <p:sldId id="268" r:id="rId5"/>
    <p:sldId id="273" r:id="rId6"/>
    <p:sldId id="269" r:id="rId7"/>
    <p:sldId id="270" r:id="rId8"/>
    <p:sldId id="271" r:id="rId9"/>
    <p:sldId id="283" r:id="rId10"/>
    <p:sldId id="272" r:id="rId11"/>
    <p:sldId id="277" r:id="rId12"/>
    <p:sldId id="274" r:id="rId13"/>
    <p:sldId id="278" r:id="rId14"/>
    <p:sldId id="280" r:id="rId15"/>
    <p:sldId id="275" r:id="rId16"/>
    <p:sldId id="281" r:id="rId17"/>
    <p:sldId id="28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ср 17.06.26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1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ср 17.06.26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ср 17.06.26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ср 17.06.26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ср 17.06.26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ср 17.06.26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ср 17.06.26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ср 17.06.26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7534" y="2468686"/>
            <a:ext cx="2590219" cy="132343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Разработка анонимного веб-чата для психологической поддержки студентов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9500" y="4682300"/>
            <a:ext cx="4222379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 группы 6402-020302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Никитенко Матвей Юрьевич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/>
              </a:rPr>
              <a:t>Научный руководитель: доцент кафедры ПС, к.т.н. </a:t>
            </a:r>
            <a:br>
              <a:rPr lang="ru-RU" sz="1400" dirty="0">
                <a:solidFill>
                  <a:schemeClr val="bg1"/>
                </a:solidFill>
                <a:latin typeface="Elektra Text Pro"/>
              </a:rPr>
            </a:br>
            <a:r>
              <a:rPr lang="ru-RU" sz="1400" dirty="0" err="1">
                <a:solidFill>
                  <a:schemeClr val="bg1"/>
                </a:solidFill>
                <a:latin typeface="Elektra Text Pro"/>
              </a:rPr>
              <a:t>Лобанков</a:t>
            </a:r>
            <a:r>
              <a:rPr lang="ru-RU" sz="1400" dirty="0">
                <a:solidFill>
                  <a:schemeClr val="bg1"/>
                </a:solidFill>
                <a:latin typeface="Elektra Text Pro"/>
              </a:rPr>
              <a:t> А.А.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 2026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226" y="1363988"/>
            <a:ext cx="84113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Цель работы </a:t>
            </a:r>
            <a:r>
              <a:rPr lang="ru-RU" sz="1800" dirty="0"/>
              <a:t>– </a:t>
            </a:r>
            <a:r>
              <a:rPr lang="ru-RU" dirty="0"/>
              <a:t>разработать анонимный веб-чат для психологической поддержки студентов с защитой персональных данных.</a:t>
            </a:r>
          </a:p>
          <a:p>
            <a:r>
              <a:rPr lang="ru-RU" b="1" dirty="0"/>
              <a:t>Задачи</a:t>
            </a:r>
            <a:r>
              <a:rPr lang="en-US" b="1" dirty="0"/>
              <a:t>:</a:t>
            </a:r>
            <a:endParaRPr lang="ru-RU" b="1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Проанализировать и описать предметную область: изучить проблемы психологической поддержки студентов и требования к анонимности в подобных системах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Сделать обзор систем-аналогов в области анонимных платформ психологической поддержки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Спроектировать систему</a:t>
            </a:r>
            <a:r>
              <a:rPr lang="en-US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Разработать интерфейс пользователя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Реализовать программное обеспечение, провести тестирование и отладку</a:t>
            </a:r>
            <a:r>
              <a:rPr lang="en-US" dirty="0"/>
              <a:t>.</a:t>
            </a:r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Цели и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133415C-8134-674C-D8E7-B60D942BC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0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2808" y="1166842"/>
            <a:ext cx="52693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Веб-чат психологической поддержки — это платформа, обеспечивающая анонимное взаимодействие студента со специалистом в режиме реального времени без использования персональных данных.</a:t>
            </a:r>
          </a:p>
          <a:p>
            <a:r>
              <a:rPr lang="ru-RU" b="1" dirty="0"/>
              <a:t>Ключевые требования</a:t>
            </a:r>
            <a:r>
              <a:rPr lang="en-US" b="1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Анонимность: авторизация только по логину и паролю, без </a:t>
            </a:r>
            <a:r>
              <a:rPr lang="ru-RU" dirty="0" err="1"/>
              <a:t>email</a:t>
            </a:r>
            <a:r>
              <a:rPr lang="ru-RU" dirty="0"/>
              <a:t> и телефона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Шифрование переписки на транспортном уровне и при хранении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Ролевая модель: студент, специалист, администратор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Очередь обращений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Автоматическое определение уровня тревожности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Управление историей переписки на усмотрение пользователя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</p:txBody>
      </p:sp>
      <p:pic>
        <p:nvPicPr>
          <p:cNvPr id="2051" name="Picture 3" descr="Виджет чата HelpDeskEddy: онлайн-обращения и создание заявок на вашем сайте  | Help Desk, Service Desk система для качественной поддержки">
            <a:extLst>
              <a:ext uri="{FF2B5EF4-FFF2-40B4-BE49-F238E27FC236}">
                <a16:creationId xmlns:a16="http://schemas.microsoft.com/office/drawing/2014/main" id="{1D5FFA4A-DD7E-194F-2358-8A6B16F3D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658" y="815339"/>
            <a:ext cx="4217040" cy="261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Анонимность в интернете: последняя иллюзия свободного человека  RosInvest.Com - Бессмертный бизнес / RosInvest.Com /">
            <a:extLst>
              <a:ext uri="{FF2B5EF4-FFF2-40B4-BE49-F238E27FC236}">
                <a16:creationId xmlns:a16="http://schemas.microsoft.com/office/drawing/2014/main" id="{147DF3D2-302A-B11D-E28F-2F67304CF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658" y="3429000"/>
            <a:ext cx="4217040" cy="281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5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системы аналога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1221.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chat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B981B-E82D-44BC-842E-A262FBD3324D}"/>
              </a:ext>
            </a:extLst>
          </p:cNvPr>
          <p:cNvSpPr txBox="1"/>
          <p:nvPr/>
        </p:nvSpPr>
        <p:spPr>
          <a:xfrm>
            <a:off x="612940" y="1095015"/>
            <a:ext cx="437968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Достоинства:</a:t>
            </a:r>
            <a:endParaRPr lang="ru-RU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/>
              <a:t>Текстовый чат снижает тревожность при первом обращении</a:t>
            </a:r>
            <a:r>
              <a:rPr lang="en-US" sz="1600" dirty="0"/>
              <a:t>;</a:t>
            </a:r>
            <a:endParaRPr lang="ru-RU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/>
              <a:t>Работает в режиме реального времени</a:t>
            </a:r>
            <a:r>
              <a:rPr lang="en-US" sz="1600" dirty="0"/>
              <a:t>;</a:t>
            </a:r>
            <a:endParaRPr lang="ru-RU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/>
              <a:t>Ориентирован на подростков и молодёжь</a:t>
            </a:r>
            <a:r>
              <a:rPr lang="en-US" sz="1600" dirty="0"/>
              <a:t>;</a:t>
            </a:r>
            <a:endParaRPr lang="ru-RU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/>
              <a:t>Простой интерфейс, не требующий обучения</a:t>
            </a:r>
            <a:r>
              <a:rPr lang="en-US" sz="1600" dirty="0"/>
              <a:t>;</a:t>
            </a:r>
            <a:endParaRPr lang="ru-RU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/>
              <a:t>Бесплатный доступ через веб-браузер</a:t>
            </a:r>
            <a:r>
              <a:rPr lang="en-US" sz="1600" dirty="0"/>
              <a:t>.</a:t>
            </a:r>
            <a:endParaRPr lang="ru-RU" sz="1600" dirty="0"/>
          </a:p>
          <a:p>
            <a:r>
              <a:rPr lang="ru-RU" sz="1600" b="1" dirty="0"/>
              <a:t>Недостатки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Ограниченная пропускная способность из-за небольшого штата психологов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Доступ ограничен расписанием работы психологов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Нет личного кабинета и истории обращений</a:t>
            </a:r>
            <a:r>
              <a:rPr lang="en-US" sz="16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Нет автоматического анализа уровня тревожности</a:t>
            </a:r>
            <a:r>
              <a:rPr lang="en-US" sz="1600" dirty="0"/>
              <a:t>.</a:t>
            </a:r>
            <a:endParaRPr lang="ru-RU" sz="1600" dirty="0"/>
          </a:p>
          <a:p>
            <a:endParaRPr lang="ru-RU" sz="1600" b="1" dirty="0"/>
          </a:p>
          <a:p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578A62-5176-0AFF-9182-CA9822C10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374" y="797204"/>
            <a:ext cx="4956969" cy="27884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13A76E-5F13-0437-1F2C-6F0EF1251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374" y="3585695"/>
            <a:ext cx="4956969" cy="278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4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системы аналога Твоя </a:t>
            </a:r>
            <a:r>
              <a:rPr lang="ru-RU" dirty="0" err="1">
                <a:solidFill>
                  <a:schemeClr val="bg1"/>
                </a:solidFill>
                <a:latin typeface="Elektra Text Pro" panose="02000503030000020004" pitchFamily="50" charset="-52"/>
              </a:rPr>
              <a:t>территория.онлайн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B981B-E82D-44BC-842E-A262FBD3324D}"/>
              </a:ext>
            </a:extLst>
          </p:cNvPr>
          <p:cNvSpPr txBox="1"/>
          <p:nvPr/>
        </p:nvSpPr>
        <p:spPr>
          <a:xfrm>
            <a:off x="585216" y="1099768"/>
            <a:ext cx="45994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Достоинства: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Удобный и простой интерфейс чата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Ориентирован на подростков и молодёжь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Информационные материалы по психическому здоровью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Наличие расписания работы психологов</a:t>
            </a:r>
            <a:r>
              <a:rPr lang="en-US" sz="1600" dirty="0"/>
              <a:t>.</a:t>
            </a:r>
            <a:endParaRPr lang="ru-RU" sz="1600" dirty="0"/>
          </a:p>
          <a:p>
            <a:r>
              <a:rPr lang="ru-RU" sz="1600" b="1" dirty="0"/>
              <a:t>Недостатки: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Ограниченное время работы консультантов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В периоды нагрузки возможны задержки или отсутствие ответа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Чаты одноразовые — длительная переписка невозможна</a:t>
            </a:r>
            <a:r>
              <a:rPr lang="en-US" sz="1600" dirty="0"/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Нет автоматического анализа уровня тревожности</a:t>
            </a:r>
            <a:r>
              <a:rPr lang="en-US" sz="1600" dirty="0"/>
              <a:t>.</a:t>
            </a:r>
            <a:endParaRPr lang="ru-RU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7F6DFA-2683-B3A6-51E6-C3DD6CA3D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671" y="793105"/>
            <a:ext cx="5036439" cy="28331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F6CC49-B738-53C7-BDDF-C36ECF243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672" y="3626300"/>
            <a:ext cx="4984623" cy="280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4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Сравнительная таблица систем аналогов с разрабатываемой системой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4B809-6F57-4E01-BF5C-C7208A019691}"/>
              </a:ext>
            </a:extLst>
          </p:cNvPr>
          <p:cNvSpPr txBox="1"/>
          <p:nvPr/>
        </p:nvSpPr>
        <p:spPr>
          <a:xfrm>
            <a:off x="585926" y="8345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C8E567-FA7B-9D66-3641-5D4A68CE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466" y="834501"/>
            <a:ext cx="5903068" cy="524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Структурная схема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3BA29F-7BDD-C5D7-0F5C-183B01FF1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77" y="853450"/>
            <a:ext cx="964064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 для роли - студент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9B226E-A650-6485-6025-0450AC429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420" y="910043"/>
            <a:ext cx="6995160" cy="52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6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8DB2F-3A4A-0413-5F41-00E62A03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31A01D-BF49-25AE-6AE1-CA14EC850563}"/>
              </a:ext>
            </a:extLst>
          </p:cNvPr>
          <p:cNvSpPr txBox="1"/>
          <p:nvPr/>
        </p:nvSpPr>
        <p:spPr>
          <a:xfrm>
            <a:off x="2351321" y="301532"/>
            <a:ext cx="806369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 для ролей – специалист и администратор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E3015-678E-EE43-C7A2-963F6A25C58F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FA773B-B30C-056D-8DCC-9107AF981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20" y="977849"/>
            <a:ext cx="8357615" cy="49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1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163033"/>
            <a:ext cx="7898675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последовательности для варианта использования «Изменить настройки хранения истории»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271194-768B-513E-9848-93D36E32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9" y="777345"/>
            <a:ext cx="5787376" cy="55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7F262-BF25-8FCF-6C2F-264F9281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C2913-05B2-60E7-8FB2-37E2035DE435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Логическая схема </a:t>
            </a:r>
            <a:r>
              <a:rPr lang="ru-RU">
                <a:solidFill>
                  <a:schemeClr val="bg1"/>
                </a:solidFill>
                <a:latin typeface="Elektra Text Pro" panose="02000503030000020004" pitchFamily="50" charset="-52"/>
              </a:rPr>
              <a:t>данных веб-приложения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0A02D-4BDA-08A4-8625-46672CF43E10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14B7DA-0CD9-8A56-3159-42C2278D4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788192"/>
            <a:ext cx="5788420" cy="560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22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Выбранные технологии для реализации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8DBCE-0F12-4097-949D-CA8DC34C1E35}"/>
              </a:ext>
            </a:extLst>
          </p:cNvPr>
          <p:cNvSpPr txBox="1"/>
          <p:nvPr/>
        </p:nvSpPr>
        <p:spPr>
          <a:xfrm>
            <a:off x="1003028" y="1166172"/>
            <a:ext cx="262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Операционная система</a:t>
            </a:r>
            <a:r>
              <a:rPr lang="en-US" b="1" dirty="0"/>
              <a:t>:</a:t>
            </a:r>
            <a:endParaRPr lang="ru-RU" b="1" dirty="0"/>
          </a:p>
          <a:p>
            <a:r>
              <a:rPr lang="en-US" dirty="0"/>
              <a:t>Windows 1</a:t>
            </a:r>
            <a:r>
              <a:rPr lang="ru-RU" dirty="0"/>
              <a:t>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FA754-F4E3-4BB4-8C4D-779963471B92}"/>
              </a:ext>
            </a:extLst>
          </p:cNvPr>
          <p:cNvSpPr txBox="1"/>
          <p:nvPr/>
        </p:nvSpPr>
        <p:spPr>
          <a:xfrm>
            <a:off x="2861695" y="4538341"/>
            <a:ext cx="137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Socket.io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B717B-04FE-41E9-8B7E-CC59BC081842}"/>
              </a:ext>
            </a:extLst>
          </p:cNvPr>
          <p:cNvSpPr txBox="1"/>
          <p:nvPr/>
        </p:nvSpPr>
        <p:spPr>
          <a:xfrm>
            <a:off x="6932960" y="2130378"/>
            <a:ext cx="20770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Клиентская часть</a:t>
            </a:r>
            <a:r>
              <a:rPr lang="en-US" b="1" dirty="0"/>
              <a:t>:</a:t>
            </a:r>
          </a:p>
          <a:p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9" name="AutoShape 12" descr="Picture background">
            <a:extLst>
              <a:ext uri="{FF2B5EF4-FFF2-40B4-BE49-F238E27FC236}">
                <a16:creationId xmlns:a16="http://schemas.microsoft.com/office/drawing/2014/main" id="{44A7EEFB-168D-4B7A-8A60-0B61550AC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48E0E-602A-4B64-8F23-B9DCA2378D1A}"/>
              </a:ext>
            </a:extLst>
          </p:cNvPr>
          <p:cNvSpPr txBox="1"/>
          <p:nvPr/>
        </p:nvSpPr>
        <p:spPr>
          <a:xfrm>
            <a:off x="5678469" y="1144319"/>
            <a:ext cx="205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Среда разработки</a:t>
            </a:r>
            <a:r>
              <a:rPr lang="en-US" b="1" dirty="0"/>
              <a:t>:</a:t>
            </a:r>
            <a:endParaRPr lang="ru-RU" b="1" dirty="0"/>
          </a:p>
        </p:txBody>
      </p:sp>
      <p:pic>
        <p:nvPicPr>
          <p:cNvPr id="1052" name="Picture 28" descr="Picture background">
            <a:extLst>
              <a:ext uri="{FF2B5EF4-FFF2-40B4-BE49-F238E27FC236}">
                <a16:creationId xmlns:a16="http://schemas.microsoft.com/office/drawing/2014/main" id="{0FA6033D-68D4-4470-82E9-EBE79CFCB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503" y="981046"/>
            <a:ext cx="847114" cy="8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0" descr="Языки HTML и CSS | Введение в веб-разработку. Курс">
            <a:extLst>
              <a:ext uri="{FF2B5EF4-FFF2-40B4-BE49-F238E27FC236}">
                <a16:creationId xmlns:a16="http://schemas.microsoft.com/office/drawing/2014/main" id="{954DC6C2-E08D-29A8-0B39-A157EF45A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162" y="2563374"/>
            <a:ext cx="1276025" cy="62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1C75C0-7150-B6A7-D2A4-0C6E1F9FAF01}"/>
              </a:ext>
            </a:extLst>
          </p:cNvPr>
          <p:cNvSpPr txBox="1"/>
          <p:nvPr/>
        </p:nvSpPr>
        <p:spPr>
          <a:xfrm>
            <a:off x="8227698" y="2662558"/>
            <a:ext cx="150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HTML </a:t>
            </a:r>
            <a:r>
              <a:rPr lang="ru-RU" dirty="0"/>
              <a:t>и </a:t>
            </a:r>
            <a:r>
              <a:rPr lang="en-US" dirty="0"/>
              <a:t>CSS</a:t>
            </a:r>
            <a:endParaRPr lang="ru-RU" dirty="0"/>
          </a:p>
        </p:txBody>
      </p:sp>
      <p:pic>
        <p:nvPicPr>
          <p:cNvPr id="12" name="Picture 16" descr="JavaScript — Википедия">
            <a:extLst>
              <a:ext uri="{FF2B5EF4-FFF2-40B4-BE49-F238E27FC236}">
                <a16:creationId xmlns:a16="http://schemas.microsoft.com/office/drawing/2014/main" id="{41DAFA27-4A67-0EF1-AD1D-16CCDC6CC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548" y="3334011"/>
            <a:ext cx="537138" cy="53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815568-F605-8DA6-842E-73F84DA35C23}"/>
              </a:ext>
            </a:extLst>
          </p:cNvPr>
          <p:cNvSpPr txBox="1"/>
          <p:nvPr/>
        </p:nvSpPr>
        <p:spPr>
          <a:xfrm>
            <a:off x="8177406" y="3429000"/>
            <a:ext cx="160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JavaScript</a:t>
            </a:r>
            <a:r>
              <a:rPr lang="ru-RU" dirty="0"/>
              <a:t> </a:t>
            </a:r>
            <a:r>
              <a:rPr lang="en-US" dirty="0"/>
              <a:t>ES6+</a:t>
            </a:r>
            <a:endParaRPr lang="ru-RU" dirty="0"/>
          </a:p>
        </p:txBody>
      </p:sp>
      <p:pic>
        <p:nvPicPr>
          <p:cNvPr id="16" name="Picture 12" descr="Что такое Node.js | Рег.ру">
            <a:extLst>
              <a:ext uri="{FF2B5EF4-FFF2-40B4-BE49-F238E27FC236}">
                <a16:creationId xmlns:a16="http://schemas.microsoft.com/office/drawing/2014/main" id="{77BAD7CC-A48E-18F4-5118-D03C7C0EB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085" y="2527444"/>
            <a:ext cx="1194236" cy="59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0CEB22C-3011-A34A-2C06-922270AD3F88}"/>
              </a:ext>
            </a:extLst>
          </p:cNvPr>
          <p:cNvSpPr txBox="1"/>
          <p:nvPr/>
        </p:nvSpPr>
        <p:spPr>
          <a:xfrm>
            <a:off x="2849630" y="2636375"/>
            <a:ext cx="1194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Node.js</a:t>
            </a:r>
            <a:endParaRPr lang="ru-RU" dirty="0"/>
          </a:p>
        </p:txBody>
      </p:sp>
      <p:pic>
        <p:nvPicPr>
          <p:cNvPr id="4098" name="Picture 2" descr="Топ-10 бэкенд-фреймворков 2025: Глубокий анализ и выбор с Богданом  Новотарским | Богдан Новотарский">
            <a:extLst>
              <a:ext uri="{FF2B5EF4-FFF2-40B4-BE49-F238E27FC236}">
                <a16:creationId xmlns:a16="http://schemas.microsoft.com/office/drawing/2014/main" id="{1BA6843E-2968-EEC0-BE92-902E0E635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783" y="3124562"/>
            <a:ext cx="778611" cy="103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AF72D0A-C654-EC65-B9D3-B69D052B255D}"/>
              </a:ext>
            </a:extLst>
          </p:cNvPr>
          <p:cNvSpPr txBox="1"/>
          <p:nvPr/>
        </p:nvSpPr>
        <p:spPr>
          <a:xfrm>
            <a:off x="2849630" y="3310962"/>
            <a:ext cx="1085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Express 5.2</a:t>
            </a:r>
            <a:endParaRPr lang="ru-RU" dirty="0"/>
          </a:p>
        </p:txBody>
      </p:sp>
      <p:pic>
        <p:nvPicPr>
          <p:cNvPr id="4102" name="Picture 6" descr="Understanding Socket.IO. It's important to provide timely… | by Grigor  Khachatryan | Medium">
            <a:extLst>
              <a:ext uri="{FF2B5EF4-FFF2-40B4-BE49-F238E27FC236}">
                <a16:creationId xmlns:a16="http://schemas.microsoft.com/office/drawing/2014/main" id="{1107AB47-0F0E-614E-C682-822F1E408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59" y="4335246"/>
            <a:ext cx="1652816" cy="77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Логотип PostgreSQL / Программы / TopLogos.ru">
            <a:extLst>
              <a:ext uri="{FF2B5EF4-FFF2-40B4-BE49-F238E27FC236}">
                <a16:creationId xmlns:a16="http://schemas.microsoft.com/office/drawing/2014/main" id="{579890F5-24BD-5E4F-98EE-AE5DFE3CF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027" y="5007957"/>
            <a:ext cx="657279" cy="73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34F657D-35A0-CB56-B187-82563F5870F2}"/>
              </a:ext>
            </a:extLst>
          </p:cNvPr>
          <p:cNvSpPr txBox="1"/>
          <p:nvPr/>
        </p:nvSpPr>
        <p:spPr>
          <a:xfrm>
            <a:off x="2654046" y="5269307"/>
            <a:ext cx="157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PostgreSQL 16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4B4A24-0531-D974-0AC8-F31C2C11B646}"/>
              </a:ext>
            </a:extLst>
          </p:cNvPr>
          <p:cNvSpPr txBox="1"/>
          <p:nvPr/>
        </p:nvSpPr>
        <p:spPr>
          <a:xfrm>
            <a:off x="888242" y="2174137"/>
            <a:ext cx="3695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Серверная часть</a:t>
            </a:r>
            <a:r>
              <a:rPr lang="en-US" b="1" dirty="0"/>
              <a:t>:</a:t>
            </a:r>
            <a:r>
              <a:rPr lang="ru-RU" b="1" dirty="0"/>
              <a:t>                                            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F9C2BC-6086-E782-D4C3-AB25D3FE2DF6}"/>
              </a:ext>
            </a:extLst>
          </p:cNvPr>
          <p:cNvSpPr txBox="1"/>
          <p:nvPr/>
        </p:nvSpPr>
        <p:spPr>
          <a:xfrm>
            <a:off x="6982677" y="4148117"/>
            <a:ext cx="197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Безопасность</a:t>
            </a:r>
            <a:r>
              <a:rPr lang="en-US" b="1" dirty="0"/>
              <a:t>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5C6067-4CB4-49E5-B43E-AB29393A2CC3}"/>
              </a:ext>
            </a:extLst>
          </p:cNvPr>
          <p:cNvSpPr txBox="1"/>
          <p:nvPr/>
        </p:nvSpPr>
        <p:spPr>
          <a:xfrm>
            <a:off x="7075778" y="456431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 err="1"/>
              <a:t>bcrypt</a:t>
            </a:r>
            <a:r>
              <a:rPr lang="en-US" dirty="0"/>
              <a:t> 6.0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AES-256-GCM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helmet 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express-rate-limit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0D93E-B6D2-6666-306E-7D926C4B0B4D}"/>
              </a:ext>
            </a:extLst>
          </p:cNvPr>
          <p:cNvSpPr txBox="1"/>
          <p:nvPr/>
        </p:nvSpPr>
        <p:spPr>
          <a:xfrm>
            <a:off x="9136079" y="1166172"/>
            <a:ext cx="197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 Studio Code</a:t>
            </a:r>
            <a:endParaRPr lang="ru-RU" dirty="0"/>
          </a:p>
        </p:txBody>
      </p:sp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1E0FA659-4A65-F9F3-C5CF-4BF1907D9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74" y="836874"/>
            <a:ext cx="1521929" cy="152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335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913F6-6BFE-487B-8281-CFD5C0FC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7B85F-7BE1-7980-6B8F-974107809882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Экранные формы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33E56-1FAB-AC92-027D-BBA75D44049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3EFFB-1130-C9B7-8221-9405E69DA0DC}"/>
              </a:ext>
            </a:extLst>
          </p:cNvPr>
          <p:cNvSpPr txBox="1"/>
          <p:nvPr/>
        </p:nvSpPr>
        <p:spPr>
          <a:xfrm>
            <a:off x="4583644" y="211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AutoShape 12" descr="Picture background">
            <a:extLst>
              <a:ext uri="{FF2B5EF4-FFF2-40B4-BE49-F238E27FC236}">
                <a16:creationId xmlns:a16="http://schemas.microsoft.com/office/drawing/2014/main" id="{9A7F4E77-9E3A-E6E9-6A45-298A529122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DE434B-2795-FFE9-D948-194EC27AAA4E}"/>
              </a:ext>
            </a:extLst>
          </p:cNvPr>
          <p:cNvSpPr txBox="1"/>
          <p:nvPr/>
        </p:nvSpPr>
        <p:spPr>
          <a:xfrm>
            <a:off x="6229481" y="2807442"/>
            <a:ext cx="150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DB76709-CD01-5B81-C15D-1AF7D9A23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2" y="822960"/>
            <a:ext cx="11212384" cy="537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6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8EFF3-8F12-4A46-FFC2-FD3EF5EB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FA5ADF-AE6E-B481-BC40-FCF338252958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Экранные формы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BFCFE-7913-088E-FEFB-B755C0175E13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89C71-913B-EF8F-F4EF-92485A698270}"/>
              </a:ext>
            </a:extLst>
          </p:cNvPr>
          <p:cNvSpPr txBox="1"/>
          <p:nvPr/>
        </p:nvSpPr>
        <p:spPr>
          <a:xfrm>
            <a:off x="4583644" y="2112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AutoShape 12" descr="Picture background">
            <a:extLst>
              <a:ext uri="{FF2B5EF4-FFF2-40B4-BE49-F238E27FC236}">
                <a16:creationId xmlns:a16="http://schemas.microsoft.com/office/drawing/2014/main" id="{A33FF51B-3693-0C74-0CD8-3999EB26E4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139E1-4023-D4BD-C0D7-130DEB72D85D}"/>
              </a:ext>
            </a:extLst>
          </p:cNvPr>
          <p:cNvSpPr txBox="1"/>
          <p:nvPr/>
        </p:nvSpPr>
        <p:spPr>
          <a:xfrm>
            <a:off x="6229481" y="2807442"/>
            <a:ext cx="150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29F96E-E39A-F147-03F6-3F21FC14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44" y="888729"/>
            <a:ext cx="9735312" cy="524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6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Экранные 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F4407-404E-AE98-D0E6-CD788FDA4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78" b="8738"/>
          <a:stretch>
            <a:fillRect/>
          </a:stretch>
        </p:blipFill>
        <p:spPr>
          <a:xfrm>
            <a:off x="869223" y="1006659"/>
            <a:ext cx="10622604" cy="484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1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891CC-D360-DFD1-DE84-ADAECBEE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CDC5B-C2D5-A19E-EB39-72BF1912755B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Экранные формы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3511-2420-1D4E-4A82-4419931CB47B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7302D1-1F94-11C9-8E42-0CA19841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8" y="813816"/>
            <a:ext cx="11620243" cy="539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2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4C088-D404-B85C-731D-D22F88CB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FE185-BCED-5E43-CFCB-B0088C87A95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Демонстрация </a:t>
            </a:r>
            <a:r>
              <a:rPr lang="ru-RU">
                <a:solidFill>
                  <a:schemeClr val="bg1"/>
                </a:solidFill>
                <a:latin typeface="Elektra Text Pro" panose="02000503030000020004" pitchFamily="50" charset="-52"/>
              </a:rPr>
              <a:t>работы веб-приложения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C1FB5-07DB-87B2-05F3-93EAD46FABE3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2026-04-30 02-56-27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1445BD88-60BA-6065-E0E6-DF7A54E347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4590" r="-38" b="-202"/>
          <a:stretch>
            <a:fillRect/>
          </a:stretch>
        </p:blipFill>
        <p:spPr>
          <a:xfrm>
            <a:off x="1170243" y="853704"/>
            <a:ext cx="10044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2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1800</TotalTime>
  <Words>427</Words>
  <Application>Microsoft Office PowerPoint</Application>
  <PresentationFormat>Широкоэкранный</PresentationFormat>
  <Paragraphs>101</Paragraphs>
  <Slides>17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Elektra Medium Pro</vt:lpstr>
      <vt:lpstr>Elektra Text Pro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Никита Шубин</cp:lastModifiedBy>
  <cp:revision>39</cp:revision>
  <dcterms:created xsi:type="dcterms:W3CDTF">2016-03-09T10:31:39Z</dcterms:created>
  <dcterms:modified xsi:type="dcterms:W3CDTF">2026-06-17T15:12:55Z</dcterms:modified>
</cp:coreProperties>
</file>