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2"/>
  </p:notesMasterIdLst>
  <p:sldIdLst>
    <p:sldId id="256" r:id="rId2"/>
    <p:sldId id="258" r:id="rId3"/>
    <p:sldId id="259" r:id="rId4"/>
    <p:sldId id="268" r:id="rId5"/>
    <p:sldId id="273" r:id="rId6"/>
    <p:sldId id="269" r:id="rId7"/>
    <p:sldId id="270" r:id="rId8"/>
    <p:sldId id="271" r:id="rId9"/>
    <p:sldId id="272" r:id="rId10"/>
    <p:sldId id="267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36C68-DDAB-4D09-8E72-8E937BD7768C}" type="datetimeFigureOut">
              <a:rPr lang="ru-RU" smtClean="0"/>
              <a:t>пт 24.04.26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8289E-2F4B-4BDB-9E3D-307BE649A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579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15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006A-6BE7-43E8-8AD6-C09FC266B36F}" type="datetime1">
              <a:rPr lang="ru-RU" smtClean="0"/>
              <a:t>пт 24.04.26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844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13183-B2A1-4784-80CE-65A33D52CB0B}" type="datetime1">
              <a:rPr lang="ru-RU" smtClean="0"/>
              <a:t>пт 24.04.26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8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88E9-D2C3-4436-BFEE-5F0C2E0896FE}" type="datetime1">
              <a:rPr lang="ru-RU" smtClean="0"/>
              <a:t>пт 24.04.26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74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5BC7-66CE-44BA-84C4-ADF5D358A8E5}" type="datetime1">
              <a:rPr lang="ru-RU" smtClean="0"/>
              <a:t>пт 24.04.26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502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F641-8A7B-48BB-9924-29525D09D843}" type="datetime1">
              <a:rPr lang="ru-RU" smtClean="0"/>
              <a:t>пт 24.04.26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410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CC1A-CDB1-4CBC-83A8-3EB958439194}" type="datetime1">
              <a:rPr lang="ru-RU" smtClean="0"/>
              <a:t>пт 24.04.26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16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C5F1-78C0-4305-B0EC-8CEF047F6C93}" type="datetime1">
              <a:rPr lang="ru-RU" smtClean="0"/>
              <a:t>пт 24.04.26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142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670FB-17C0-4434-90C8-A4668EF13565}" type="datetime1">
              <a:rPr lang="ru-RU" smtClean="0"/>
              <a:t>пт 24.04.26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246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5D1FD-3FC4-47EA-B2EB-FF46800F6009}" type="datetime1">
              <a:rPr lang="ru-RU" smtClean="0"/>
              <a:t>пт 24.04.26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027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85EE-4AB9-42CD-8126-E74FE77A9ED8}" type="datetime1">
              <a:rPr lang="ru-RU" smtClean="0"/>
              <a:t>пт 24.04.26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34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B916C-83BE-4CC1-8A21-D05CD30C43DB}" type="datetime1">
              <a:rPr lang="ru-RU" smtClean="0"/>
              <a:t>пт 24.04.26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180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09404-ED28-47FE-9DC5-C6BCEA110D1D}" type="datetime1">
              <a:rPr lang="ru-RU" smtClean="0"/>
              <a:t>пт 24.04.26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56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99501" y="2468686"/>
            <a:ext cx="3831772" cy="132343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Elektra Text Pro" panose="02000503030000020004" pitchFamily="50" charset="-52"/>
              </a:rPr>
              <a:t>РАЗРАБОТКА АВТОМАТИЗИРОВАННОЙ СИТЕМЫ БРОНИРОВАНИЯ СПОРТИВНЫХ ПЛОЩАДОК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9500" y="4682300"/>
            <a:ext cx="4222379" cy="95410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Студент группы 6402-020302</a:t>
            </a:r>
            <a:r>
              <a:rPr lang="en-US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D</a:t>
            </a:r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,</a:t>
            </a:r>
          </a:p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Шубин Никита Александрович</a:t>
            </a:r>
          </a:p>
          <a:p>
            <a:pPr algn="ctr"/>
            <a:r>
              <a:rPr lang="ru-RU" sz="1400" dirty="0">
                <a:solidFill>
                  <a:schemeClr val="bg1"/>
                </a:solidFill>
                <a:latin typeface="Elektra Text Pro"/>
              </a:rPr>
              <a:t>Научный руководитель: доцент кафедры ПС, к.т.н. </a:t>
            </a:r>
            <a:br>
              <a:rPr lang="ru-RU" sz="1400" dirty="0">
                <a:solidFill>
                  <a:schemeClr val="bg1"/>
                </a:solidFill>
                <a:latin typeface="Elektra Text Pro"/>
              </a:rPr>
            </a:br>
            <a:r>
              <a:rPr lang="ru-RU" sz="1400" dirty="0" err="1">
                <a:solidFill>
                  <a:schemeClr val="bg1"/>
                </a:solidFill>
                <a:latin typeface="Elektra Text Pro"/>
              </a:rPr>
              <a:t>Лобанков</a:t>
            </a:r>
            <a:r>
              <a:rPr lang="ru-RU" sz="1400" dirty="0">
                <a:solidFill>
                  <a:schemeClr val="bg1"/>
                </a:solidFill>
                <a:latin typeface="Elektra Text Pro"/>
              </a:rPr>
              <a:t> А.А.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9501" y="6093318"/>
            <a:ext cx="3846286" cy="30777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Самара 2026</a:t>
            </a:r>
          </a:p>
        </p:txBody>
      </p:sp>
    </p:spTree>
    <p:extLst>
      <p:ext uri="{BB962C8B-B14F-4D97-AF65-F5344CB8AC3E}">
        <p14:creationId xmlns:p14="http://schemas.microsoft.com/office/powerpoint/2010/main" val="3482473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5226" y="1363988"/>
            <a:ext cx="841139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/>
              <a:t>Цель работы </a:t>
            </a:r>
            <a:r>
              <a:rPr lang="ru-RU" sz="1800" dirty="0"/>
              <a:t>– разработать автоматизированную систему бронирования спортивных площадок</a:t>
            </a:r>
          </a:p>
          <a:p>
            <a:r>
              <a:rPr lang="ru-RU" b="1" dirty="0"/>
              <a:t>Задачи</a:t>
            </a:r>
            <a:r>
              <a:rPr lang="en-US" b="1" dirty="0"/>
              <a:t>:</a:t>
            </a:r>
            <a:endParaRPr lang="ru-RU" b="1" dirty="0"/>
          </a:p>
          <a:p>
            <a:pPr marL="342900" indent="-342900">
              <a:buAutoNum type="arabicPeriod"/>
            </a:pPr>
            <a:r>
              <a:rPr lang="ru-RU" dirty="0"/>
              <a:t>Проанализировать и описать предметную область</a:t>
            </a:r>
            <a:r>
              <a:rPr lang="en-US" dirty="0"/>
              <a:t>:</a:t>
            </a:r>
            <a:r>
              <a:rPr lang="ru-RU" dirty="0"/>
              <a:t> изучить принципы бронирования спортивных площадок</a:t>
            </a:r>
            <a:r>
              <a:rPr lang="en-US" dirty="0"/>
              <a:t>;</a:t>
            </a:r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Сделать обзор систем аналогов в области бронирования спортивных площадок</a:t>
            </a:r>
            <a:r>
              <a:rPr lang="en-US" dirty="0"/>
              <a:t>;</a:t>
            </a:r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Спроектировать систему</a:t>
            </a:r>
            <a:r>
              <a:rPr lang="en-US" dirty="0"/>
              <a:t>;</a:t>
            </a:r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Разработать интерфейс пользователя</a:t>
            </a:r>
            <a:r>
              <a:rPr lang="en-US" dirty="0"/>
              <a:t>;</a:t>
            </a:r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Реализовать программное обеспечение</a:t>
            </a:r>
            <a:r>
              <a:rPr lang="en-US" dirty="0"/>
              <a:t>,</a:t>
            </a:r>
            <a:r>
              <a:rPr lang="ru-RU" dirty="0"/>
              <a:t> провести тестирование и откладку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351321" y="301539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Цели и задачи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5759" y="6341149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E79BFED-6ECD-4563-B483-CEA192FFFCCF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2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806022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Описание предметной области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3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3082" y="1773313"/>
            <a:ext cx="46622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Спортивная площадка – спортивное сооружение, ограниченное по периметру ограждениями, имеющее фиксированные пространственные характеристики, оснащенное соответствующим оборудованием, предназначенным для проведения тренировочных и физкультурно-спортивных мероприятий, и подготовленное для культивирования одного или нескольких видов спорта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3C8676C-EE9B-4526-89E8-2CE63E978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243" y="1773313"/>
            <a:ext cx="6035063" cy="331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54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Описание системы аналога </a:t>
            </a:r>
            <a:r>
              <a:rPr lang="en-US" sz="1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ClickSport</a:t>
            </a:r>
            <a:endParaRPr lang="ru-RU" dirty="0">
              <a:solidFill>
                <a:schemeClr val="bg1"/>
              </a:solidFill>
              <a:latin typeface="Elektra Text Pro" panose="02000503030000020004" pitchFamily="50" charset="-5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4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1FB744-3F4B-433E-B3A9-F3067DC418EA}"/>
              </a:ext>
            </a:extLst>
          </p:cNvPr>
          <p:cNvSpPr txBox="1"/>
          <p:nvPr/>
        </p:nvSpPr>
        <p:spPr>
          <a:xfrm>
            <a:off x="179033" y="753541"/>
            <a:ext cx="11833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«</a:t>
            </a:r>
            <a:r>
              <a:rPr lang="ru-RU" sz="1600" dirty="0" err="1"/>
              <a:t>ClickSport</a:t>
            </a:r>
            <a:r>
              <a:rPr lang="ru-RU" sz="1600" dirty="0"/>
              <a:t>» представляет собой веб-платформу для поиска и бронирования спортивных площадок в различных городах России. 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CCDD6F9-6197-4CA4-B97D-96EC8602D8E8}"/>
              </a:ext>
            </a:extLst>
          </p:cNvPr>
          <p:cNvSpPr/>
          <p:nvPr/>
        </p:nvSpPr>
        <p:spPr>
          <a:xfrm>
            <a:off x="328474" y="2940169"/>
            <a:ext cx="4527055" cy="33291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5A3DABF-4D56-4AFC-B4A6-99D24F9C1A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133"/>
          <a:stretch/>
        </p:blipFill>
        <p:spPr>
          <a:xfrm>
            <a:off x="414013" y="3029839"/>
            <a:ext cx="4355977" cy="31498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8FB981B-E82D-44BC-842E-A262FBD3324D}"/>
              </a:ext>
            </a:extLst>
          </p:cNvPr>
          <p:cNvSpPr txBox="1"/>
          <p:nvPr/>
        </p:nvSpPr>
        <p:spPr>
          <a:xfrm>
            <a:off x="612940" y="1095015"/>
            <a:ext cx="367535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Достоинства</a:t>
            </a:r>
            <a:r>
              <a:rPr lang="en-US" sz="1400" dirty="0"/>
              <a:t>:</a:t>
            </a:r>
          </a:p>
          <a:p>
            <a:pPr marL="342900" lvl="0" indent="-342900" algn="just">
              <a:lnSpc>
                <a:spcPct val="150000"/>
              </a:lnSpc>
              <a:buSzPts val="1400"/>
              <a:buFont typeface="Symbol" panose="05050102010706020507" pitchFamily="18" charset="2"/>
              <a:buChar char=""/>
            </a:pPr>
            <a:r>
              <a:rPr lang="ru-RU" sz="1600" dirty="0"/>
              <a:t>долгосрочное бронирование</a:t>
            </a:r>
            <a:r>
              <a:rPr lang="en-US" sz="1600" dirty="0"/>
              <a:t>;</a:t>
            </a:r>
            <a:endParaRPr lang="ru-RU" sz="1600" dirty="0"/>
          </a:p>
          <a:p>
            <a:pPr marL="342900" lvl="0" indent="-342900" algn="just">
              <a:lnSpc>
                <a:spcPct val="150000"/>
              </a:lnSpc>
              <a:buSzPts val="1400"/>
              <a:buFont typeface="Symbol" panose="05050102010706020507" pitchFamily="18" charset="2"/>
              <a:buChar char=""/>
            </a:pPr>
            <a:r>
              <a:rPr lang="ru-RU" sz="1600" dirty="0"/>
              <a:t>интеграция с картой</a:t>
            </a:r>
            <a:r>
              <a:rPr lang="en-US" sz="1600" dirty="0"/>
              <a:t>;</a:t>
            </a:r>
            <a:endParaRPr lang="ru-RU" sz="1600" dirty="0"/>
          </a:p>
          <a:p>
            <a:pPr marL="342900" lvl="0" indent="-342900" algn="just">
              <a:lnSpc>
                <a:spcPct val="150000"/>
              </a:lnSpc>
              <a:buSzPts val="1400"/>
              <a:buFont typeface="Symbol" panose="05050102010706020507" pitchFamily="18" charset="2"/>
              <a:buChar char=""/>
            </a:pPr>
            <a:r>
              <a:rPr lang="ru-RU" sz="1600" dirty="0"/>
              <a:t>система фильтрации</a:t>
            </a:r>
            <a:r>
              <a:rPr lang="en-US" sz="1600" dirty="0"/>
              <a:t>;</a:t>
            </a:r>
            <a:endParaRPr lang="ru-RU" sz="1600" dirty="0"/>
          </a:p>
          <a:p>
            <a:pPr marL="342900" lvl="0" indent="-342900" algn="just">
              <a:lnSpc>
                <a:spcPct val="150000"/>
              </a:lnSpc>
              <a:buSzPts val="1400"/>
              <a:buFont typeface="Symbol" panose="05050102010706020507" pitchFamily="18" charset="2"/>
              <a:buChar char=""/>
            </a:pPr>
            <a:r>
              <a:rPr lang="ru-RU" sz="1600" dirty="0"/>
              <a:t>система поиска участников для игр.</a:t>
            </a:r>
          </a:p>
          <a:p>
            <a:endParaRPr lang="ru-RU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62ACCB-4DD8-4C7C-B918-0B5A0E9EC1E6}"/>
              </a:ext>
            </a:extLst>
          </p:cNvPr>
          <p:cNvSpPr txBox="1"/>
          <p:nvPr/>
        </p:nvSpPr>
        <p:spPr>
          <a:xfrm>
            <a:off x="5198625" y="4893048"/>
            <a:ext cx="429867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Недостатки</a:t>
            </a:r>
            <a:r>
              <a:rPr lang="en-US" sz="1600" dirty="0"/>
              <a:t>:</a:t>
            </a:r>
          </a:p>
          <a:p>
            <a:pPr marL="342900" indent="-342900" algn="just">
              <a:lnSpc>
                <a:spcPct val="150000"/>
              </a:lnSpc>
              <a:buSzPts val="1400"/>
              <a:buFont typeface="Symbol" panose="05050102010706020507" pitchFamily="18" charset="2"/>
              <a:buChar char=""/>
            </a:pPr>
            <a:r>
              <a:rPr lang="ru-RU" sz="1600" dirty="0"/>
              <a:t>отсутствие текстового поиска по названию</a:t>
            </a:r>
            <a:r>
              <a:rPr lang="en-US" sz="1600" dirty="0"/>
              <a:t>;</a:t>
            </a:r>
          </a:p>
          <a:p>
            <a:pPr marL="342900" indent="-342900" algn="just">
              <a:lnSpc>
                <a:spcPct val="150000"/>
              </a:lnSpc>
              <a:buSzPts val="1400"/>
              <a:buFont typeface="Symbol" panose="05050102010706020507" pitchFamily="18" charset="2"/>
              <a:buChar char=""/>
            </a:pPr>
            <a:r>
              <a:rPr lang="en-US" sz="1600" dirty="0"/>
              <a:t>;</a:t>
            </a:r>
          </a:p>
          <a:p>
            <a:endParaRPr lang="ru-RU" sz="16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5979D3B-CDBC-49D1-B44B-47ADAAB60E55}"/>
              </a:ext>
            </a:extLst>
          </p:cNvPr>
          <p:cNvSpPr/>
          <p:nvPr/>
        </p:nvSpPr>
        <p:spPr>
          <a:xfrm>
            <a:off x="4941068" y="1048720"/>
            <a:ext cx="7146260" cy="38292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2CB96BC-7682-43C9-BFEB-3FEBD20247E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054456" y="1174772"/>
            <a:ext cx="6958511" cy="361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546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Описание системы аналога </a:t>
            </a:r>
            <a:r>
              <a:rPr lang="en-US" dirty="0" err="1">
                <a:solidFill>
                  <a:schemeClr val="bg1"/>
                </a:solidFill>
                <a:latin typeface="Elektra Text Pro" panose="02000503030000020004" pitchFamily="50" charset="-52"/>
              </a:rPr>
              <a:t>SportGate</a:t>
            </a:r>
            <a:endParaRPr lang="ru-RU" dirty="0">
              <a:solidFill>
                <a:schemeClr val="bg1"/>
              </a:solidFill>
              <a:latin typeface="Elektra Text Pro" panose="02000503030000020004" pitchFamily="50" charset="-5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5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1FB744-3F4B-433E-B3A9-F3067DC418EA}"/>
              </a:ext>
            </a:extLst>
          </p:cNvPr>
          <p:cNvSpPr txBox="1"/>
          <p:nvPr/>
        </p:nvSpPr>
        <p:spPr>
          <a:xfrm>
            <a:off x="179033" y="753541"/>
            <a:ext cx="11833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SportGate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это цифровая платформа для бронирования спортивных площадок по всей России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CCDD6F9-6197-4CA4-B97D-96EC8602D8E8}"/>
              </a:ext>
            </a:extLst>
          </p:cNvPr>
          <p:cNvSpPr/>
          <p:nvPr/>
        </p:nvSpPr>
        <p:spPr>
          <a:xfrm>
            <a:off x="328474" y="3428999"/>
            <a:ext cx="4527055" cy="28403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FB981B-E82D-44BC-842E-A262FBD3324D}"/>
              </a:ext>
            </a:extLst>
          </p:cNvPr>
          <p:cNvSpPr txBox="1"/>
          <p:nvPr/>
        </p:nvSpPr>
        <p:spPr>
          <a:xfrm>
            <a:off x="513643" y="1246072"/>
            <a:ext cx="367535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Достоинства</a:t>
            </a:r>
            <a:r>
              <a:rPr lang="en-US" sz="1400" dirty="0"/>
              <a:t>:</a:t>
            </a:r>
            <a:endParaRPr lang="ru-RU" sz="1600" dirty="0"/>
          </a:p>
          <a:p>
            <a:pPr marL="342900" lvl="0" indent="-342900" algn="just">
              <a:lnSpc>
                <a:spcPct val="150000"/>
              </a:lnSpc>
              <a:buSzPts val="1400"/>
              <a:buFont typeface="Symbol" panose="05050102010706020507" pitchFamily="18" charset="2"/>
              <a:buChar char=""/>
            </a:pPr>
            <a:r>
              <a:rPr lang="ru-RU" sz="1600" dirty="0"/>
              <a:t>интеграция с картой</a:t>
            </a:r>
            <a:r>
              <a:rPr lang="en-US" sz="1600" dirty="0"/>
              <a:t>;</a:t>
            </a:r>
            <a:endParaRPr lang="ru-RU" sz="1600" dirty="0"/>
          </a:p>
          <a:p>
            <a:pPr marL="342900" lvl="0" indent="-342900" algn="just">
              <a:lnSpc>
                <a:spcPct val="150000"/>
              </a:lnSpc>
              <a:buSzPts val="1400"/>
              <a:buFont typeface="Symbol" panose="05050102010706020507" pitchFamily="18" charset="2"/>
              <a:buChar char=""/>
            </a:pPr>
            <a:r>
              <a:rPr lang="ru-RU" sz="1600" dirty="0"/>
              <a:t>система фильтрации</a:t>
            </a:r>
            <a:r>
              <a:rPr lang="en-US" sz="1600" dirty="0"/>
              <a:t>;</a:t>
            </a:r>
            <a:endParaRPr lang="ru-RU" sz="1600" dirty="0"/>
          </a:p>
          <a:p>
            <a:pPr marL="342900" lvl="0" indent="-342900" algn="just">
              <a:lnSpc>
                <a:spcPct val="150000"/>
              </a:lnSpc>
              <a:buSzPts val="1400"/>
              <a:buFont typeface="Symbol" panose="05050102010706020507" pitchFamily="18" charset="2"/>
              <a:buChar char=""/>
            </a:pPr>
            <a:r>
              <a:rPr lang="ru-RU" sz="1600" dirty="0"/>
              <a:t>кроссплатформенность</a:t>
            </a:r>
            <a:r>
              <a:rPr lang="en-US" sz="1600" dirty="0"/>
              <a:t>;</a:t>
            </a:r>
          </a:p>
          <a:p>
            <a:pPr marL="342900" lvl="0" indent="-342900" algn="just">
              <a:lnSpc>
                <a:spcPct val="150000"/>
              </a:lnSpc>
              <a:buSzPts val="1400"/>
              <a:buFont typeface="Symbol" panose="05050102010706020507" pitchFamily="18" charset="2"/>
              <a:buChar char=""/>
            </a:pPr>
            <a:r>
              <a:rPr lang="ru-RU" sz="1600" dirty="0"/>
              <a:t>служба поддержки.</a:t>
            </a:r>
          </a:p>
          <a:p>
            <a:endParaRPr lang="ru-RU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62ACCB-4DD8-4C7C-B918-0B5A0E9EC1E6}"/>
              </a:ext>
            </a:extLst>
          </p:cNvPr>
          <p:cNvSpPr txBox="1"/>
          <p:nvPr/>
        </p:nvSpPr>
        <p:spPr>
          <a:xfrm>
            <a:off x="5198625" y="4893048"/>
            <a:ext cx="6671378" cy="1369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Недостатки</a:t>
            </a:r>
            <a:r>
              <a:rPr lang="en-US" sz="1600" dirty="0"/>
              <a:t>:</a:t>
            </a:r>
          </a:p>
          <a:p>
            <a:pPr marL="342900" indent="-342900" algn="just">
              <a:lnSpc>
                <a:spcPct val="150000"/>
              </a:lnSpc>
              <a:buSzPts val="1400"/>
              <a:buFont typeface="Symbol" panose="05050102010706020507" pitchFamily="18" charset="2"/>
              <a:buChar char=""/>
            </a:pPr>
            <a:r>
              <a:rPr lang="ru-RU" sz="1600" dirty="0"/>
              <a:t>нет видимого счётчика общего количества площадок</a:t>
            </a:r>
            <a:r>
              <a:rPr lang="en-US" sz="1600" dirty="0"/>
              <a:t>;</a:t>
            </a:r>
          </a:p>
          <a:p>
            <a:pPr marL="342900" indent="-342900" algn="just">
              <a:lnSpc>
                <a:spcPct val="150000"/>
              </a:lnSpc>
              <a:buSzPts val="1400"/>
              <a:buFont typeface="Symbol" panose="05050102010706020507" pitchFamily="18" charset="2"/>
              <a:buChar char=""/>
            </a:pPr>
            <a:r>
              <a:rPr lang="ru-RU" sz="1600" dirty="0"/>
              <a:t>ожидание ответа на почту либо телефон об успешном бронировании</a:t>
            </a:r>
            <a:r>
              <a:rPr lang="en-US" sz="1600" dirty="0"/>
              <a:t>;</a:t>
            </a:r>
          </a:p>
          <a:p>
            <a:endParaRPr lang="ru-RU" sz="16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5979D3B-CDBC-49D1-B44B-47ADAAB60E55}"/>
              </a:ext>
            </a:extLst>
          </p:cNvPr>
          <p:cNvSpPr/>
          <p:nvPr/>
        </p:nvSpPr>
        <p:spPr>
          <a:xfrm>
            <a:off x="4941068" y="1048720"/>
            <a:ext cx="7146260" cy="38292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83D83CA-31B3-47A5-9E47-319218CAFFD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027479" y="1107218"/>
            <a:ext cx="6985487" cy="368957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34D8B83-C68F-4A06-9E1F-D6B8E3621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655" y="3533313"/>
            <a:ext cx="4440513" cy="268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49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Описание системы аналога </a:t>
            </a:r>
            <a:r>
              <a:rPr lang="en-US" dirty="0" err="1">
                <a:solidFill>
                  <a:schemeClr val="bg1"/>
                </a:solidFill>
                <a:latin typeface="Elektra Text Pro" panose="02000503030000020004" pitchFamily="50" charset="-52"/>
              </a:rPr>
              <a:t>SportGate</a:t>
            </a:r>
            <a:endParaRPr lang="ru-RU" dirty="0">
              <a:solidFill>
                <a:schemeClr val="bg1"/>
              </a:solidFill>
              <a:latin typeface="Elektra Text Pro" panose="02000503030000020004" pitchFamily="50" charset="-5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6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4B809-6F57-4E01-BF5C-C7208A019691}"/>
              </a:ext>
            </a:extLst>
          </p:cNvPr>
          <p:cNvSpPr txBox="1"/>
          <p:nvPr/>
        </p:nvSpPr>
        <p:spPr>
          <a:xfrm>
            <a:off x="585926" y="8345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0418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Описание предметной области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7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100055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Описание предметной области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8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97466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51321" y="301532"/>
            <a:ext cx="7898675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Elektra Text Pro" panose="02000503030000020004" pitchFamily="50" charset="-52"/>
              </a:rPr>
              <a:t>Описание предметной области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53" y="6324371"/>
            <a:ext cx="46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CB11690-5800-4A0D-8C28-71894E2CF362}" type="slidenum">
              <a:rPr lang="ru-RU">
                <a:solidFill>
                  <a:schemeClr val="bg1"/>
                </a:solidFill>
                <a:latin typeface="Elektra Medium Pro" panose="02000803000000020004" pitchFamily="50" charset="-52"/>
              </a:rPr>
              <a:t>9</a:t>
            </a:fld>
            <a:endParaRPr lang="ru-RU" dirty="0">
              <a:solidFill>
                <a:schemeClr val="bg1"/>
              </a:solidFill>
              <a:latin typeface="Elektra Medium Pro" panose="020008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948979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3"/>
            <a:ext cx="12192000" cy="68545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27734" y="2613399"/>
            <a:ext cx="3831772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  <a:latin typeface="Elektra Text Pro" panose="02000503030000020004" pitchFamily="50" charset="-52"/>
              </a:rPr>
              <a:t>БЛАГОДАРЮ </a:t>
            </a:r>
          </a:p>
          <a:p>
            <a:pPr algn="ctr"/>
            <a:r>
              <a:rPr lang="ru-RU" sz="2400" b="1" dirty="0">
                <a:solidFill>
                  <a:schemeClr val="bg1"/>
                </a:solidFill>
                <a:latin typeface="Elektra Text Pro" panose="02000503030000020004" pitchFamily="50" charset="-52"/>
              </a:rPr>
              <a:t>ЗА ВНИМАНИЕ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0477" y="4455876"/>
            <a:ext cx="3846286" cy="95410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По желанию – личные контактные</a:t>
            </a:r>
          </a:p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данные автора,</a:t>
            </a:r>
          </a:p>
          <a:p>
            <a:pPr algn="ctr"/>
            <a:r>
              <a:rPr lang="ru-RU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телефон,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Elektra Text Pro" panose="02000503030000020004" pitchFamily="50" charset="-52"/>
              </a:rPr>
              <a:t>e-mail</a:t>
            </a:r>
            <a:endParaRPr lang="ru-RU" sz="1400" dirty="0">
              <a:solidFill>
                <a:schemeClr val="bg1"/>
              </a:solidFill>
              <a:latin typeface="Elektra Text Pro" panose="0200050303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12463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505</TotalTime>
  <Words>262</Words>
  <Application>Microsoft Office PowerPoint</Application>
  <PresentationFormat>Широкоэкранный</PresentationFormat>
  <Paragraphs>54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Elektra Medium Pro</vt:lpstr>
      <vt:lpstr>Elektra Text Pro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Евгений Степанов</dc:creator>
  <cp:lastModifiedBy>Никита Шубин</cp:lastModifiedBy>
  <cp:revision>23</cp:revision>
  <dcterms:created xsi:type="dcterms:W3CDTF">2016-03-09T10:31:39Z</dcterms:created>
  <dcterms:modified xsi:type="dcterms:W3CDTF">2026-04-24T15:56:07Z</dcterms:modified>
</cp:coreProperties>
</file>